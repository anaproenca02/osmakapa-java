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FCB37-569B-43C7-926B-D20B833A4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C3E919-74F5-4750-B653-011E7F593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76BDB8-A8F7-4375-B197-20EBB4DF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AA8614-FF9F-41D6-992E-3BF17710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BF514-F6CA-4AF5-A4BB-AC5708A4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9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A7078-826E-4300-BCD2-F92D4678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6034-95C6-4448-BF79-FEF5132A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588212-321D-4E8D-9BA0-FEE9D48E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89B91-5C61-43AB-8D97-0AECFB55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7B732-6ADA-4077-ACBF-ADCB09FB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2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C059B-E08C-4E59-8238-6FF69BF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192669-D5E5-405A-9257-9ADCE4E2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BF32CE-0FB6-4ABE-B3C6-C006E45B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B5897D-8FC9-4C45-9F8B-80B3F062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B4D0DF-D767-4D89-9DD2-007D0552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68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F4B74-03AC-4952-A7B7-B2190084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A07FAA-C4CC-4C57-BA7F-335B32D3B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0D8B6-C2CE-4B15-B011-777A6EEBC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24FD9D-05B3-4D4B-981D-4832B446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64ECEF-38A8-4855-BA0A-9E00ACF2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C84E1C-8009-4CAE-997C-702B002F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84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AF8DE-DCAE-4C1B-A130-BB52F1FC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D8D58B-81CD-4E3E-B682-358793E1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5A8A4E-5E59-4FB6-81CF-634819A2A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20EC76-4600-47EA-AFE3-667918D08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612535-E938-413F-A0B5-C3A3ADC81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D2F509-4551-47DF-A662-38819BC1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3DB415-8A08-4127-8700-B22ACBC7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2CDD6E-36EC-49B2-9648-58F0ED8C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25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5D2A9-7A13-410E-ADDB-9D365495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AAAF1A8-DD80-445C-86A2-F6810C49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016E71-BB2A-4DAD-B37E-4C610359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0FA7D3-E560-4529-9DE8-EFCEBE1B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87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8275A6-7942-464B-A307-4C74BDA9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A307B0D-7E80-42FE-A88A-6E7A5680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82EE95-8910-4B59-BC27-9AC5DBCD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5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5A02C-BCFD-4FD4-AB56-1977CD27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AAB7B-3FA3-47FD-9C44-62E4146E7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36B2E6-E357-4E89-AC6D-ABBE82726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F31250-AEDB-4E6A-B64B-BF9727C9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BD3652-236B-4456-964C-0E617493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D222C4-E2D0-425F-A206-BA65C7EF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26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0AB1D-67EC-4BAA-A3EE-413B7406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A2E528F-0164-4499-9D16-92B7C4EB3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766733-3424-4BE3-B16C-27F59DD1A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5B0E74-A8E8-4991-8569-B80B834F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004ACC-5AC1-4F32-AD85-F2F3DE99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1D2B4A-111F-441D-B840-BB1E963D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057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C371E-2B1E-4BBB-B856-9DD848F2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0A368D-CE95-490A-BA4A-F2E96AC39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7BB3C-F499-428E-8B6C-94CC7FB2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4C315-FCD6-4D7A-98F1-F8B89975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3E7D32-F031-4AD2-887A-CBEE4834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02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C9FB54-E024-406B-8E0C-18333EA03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4D133B-DFFD-4645-B650-F0DC32194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05CE8-9A41-4170-ACF8-62784906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A190C2-8D5E-4303-8496-C2C9E97A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020FC9-E700-428B-83AB-8B418266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98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57FD6E-CE32-4FB9-AFA3-DB2D238E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1D88F3-1C9C-4AC9-89FA-C331A810B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BC628D-CFF1-4C72-B5F3-278D735F9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7D463-D839-4B9F-BC27-D5DD8AD0CEA8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52708-E2F0-4DE6-96EE-57D793392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0D2A61-49F4-496F-803D-988CF3E7D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705D8-5CFB-4AF6-9AA3-9C2B389C77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06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E7AEC02-9350-4167-BEA0-FE52EB6DFB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01F516B-5D04-4DCC-A281-A15448C650C1}"/>
              </a:ext>
            </a:extLst>
          </p:cNvPr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2D50E87-F39F-462C-A185-ED457447E6B6}"/>
              </a:ext>
            </a:extLst>
          </p:cNvPr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657A621-7C98-4A62-8FE3-9AB33A30844E}"/>
              </a:ext>
            </a:extLst>
          </p:cNvPr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EE8B8F2-5C80-4AC3-A8ED-36246DC60E16}"/>
              </a:ext>
            </a:extLst>
          </p:cNvPr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39E9370-CFC2-431D-9FBA-8FDE725F73DF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0628F74-B4E5-49AC-A4A3-76C996B63899}"/>
              </a:ext>
            </a:extLst>
          </p:cNvPr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D2FD34B-4609-4EF7-B0BE-14B979185225}"/>
              </a:ext>
            </a:extLst>
          </p:cNvPr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22A118-6CDB-4BA6-A87D-40641160E9C1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E9B6D61-A3CD-415A-91F7-D117816215ED}"/>
              </a:ext>
            </a:extLst>
          </p:cNvPr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95BEB6D-4DC4-42D0-BB15-FF38486B56DB}"/>
              </a:ext>
            </a:extLst>
          </p:cNvPr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B6CE3E3-3223-44A5-8374-D64079EAA5C5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6A1D54A-9D23-4A39-B030-F8D29F7747D5}"/>
              </a:ext>
            </a:extLst>
          </p:cNvPr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829D31C-48EC-4944-B20E-EA022CA269DC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7D90D42-2779-400F-A6A5-C2F192DB96F4}"/>
              </a:ext>
            </a:extLst>
          </p:cNvPr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D5F14F2-811F-4786-9F5F-161A9A947ABE}"/>
              </a:ext>
            </a:extLst>
          </p:cNvPr>
          <p:cNvCxnSpPr/>
          <p:nvPr/>
        </p:nvCxnSpPr>
        <p:spPr>
          <a:xfrm>
            <a:off x="0" y="2794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BEA96B2-EAE0-4243-84DF-37E6B999D306}"/>
              </a:ext>
            </a:extLst>
          </p:cNvPr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5249F30-40BA-47A7-AAE8-72A117F70187}"/>
              </a:ext>
            </a:extLst>
          </p:cNvPr>
          <p:cNvCxnSpPr/>
          <p:nvPr/>
        </p:nvCxnSpPr>
        <p:spPr>
          <a:xfrm>
            <a:off x="0" y="4826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3C5BA6C-6EC6-46DE-B433-D4B5AD449D65}"/>
              </a:ext>
            </a:extLst>
          </p:cNvPr>
          <p:cNvCxnSpPr/>
          <p:nvPr/>
        </p:nvCxnSpPr>
        <p:spPr>
          <a:xfrm>
            <a:off x="0" y="5842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m 21">
            <a:extLst>
              <a:ext uri="{FF2B5EF4-FFF2-40B4-BE49-F238E27FC236}">
                <a16:creationId xmlns:a16="http://schemas.microsoft.com/office/drawing/2014/main" id="{67D23EF4-366B-48BE-AF33-78C17F1F6F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0"/>
            <a:ext cx="5588000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A26FDBF3-7FC4-43D9-A166-218FF1D4C0FF}"/>
              </a:ext>
            </a:extLst>
          </p:cNvPr>
          <p:cNvSpPr/>
          <p:nvPr/>
        </p:nvSpPr>
        <p:spPr>
          <a:xfrm>
            <a:off x="5969000" y="0"/>
            <a:ext cx="6223000" cy="6858000"/>
          </a:xfrm>
          <a:prstGeom prst="rect">
            <a:avLst/>
          </a:prstGeom>
          <a:solidFill>
            <a:srgbClr val="091222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92CCA13-569C-4003-9B5B-8A96DF613943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PROJETO EM GRUPO | ENGENHARIA DE SOFTWARE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829B266-7502-4E61-AE8A-6667ADD6797C}"/>
              </a:ext>
            </a:extLst>
          </p:cNvPr>
          <p:cNvSpPr txBox="1"/>
          <p:nvPr/>
        </p:nvSpPr>
        <p:spPr>
          <a:xfrm>
            <a:off x="711200" y="1092200"/>
            <a:ext cx="6477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200" b="1">
                <a:solidFill>
                  <a:srgbClr val="F5F9FF"/>
                </a:solidFill>
                <a:latin typeface="Aptos Display"/>
              </a:rPr>
              <a:t>Osmakapa Academy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50BFF99-9458-4657-9103-0849565C7F08}"/>
              </a:ext>
            </a:extLst>
          </p:cNvPr>
          <p:cNvSpPr txBox="1"/>
          <p:nvPr/>
        </p:nvSpPr>
        <p:spPr>
          <a:xfrm>
            <a:off x="736600" y="2006600"/>
            <a:ext cx="5969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700">
                <a:solidFill>
                  <a:srgbClr val="B0C0D6"/>
                </a:solidFill>
                <a:latin typeface="Aptos"/>
              </a:rPr>
              <a:t>API Spring Boot para cursos EAD com gamificacao, forum, projetos reais, moedas e beneficios.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55A9234-B53E-416E-81D3-3C9FCB7A4DE6}"/>
              </a:ext>
            </a:extLst>
          </p:cNvPr>
          <p:cNvSpPr/>
          <p:nvPr/>
        </p:nvSpPr>
        <p:spPr>
          <a:xfrm>
            <a:off x="736600" y="3175000"/>
            <a:ext cx="1587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748393A-7DB6-493A-B375-F2BBD2E03AC3}"/>
              </a:ext>
            </a:extLst>
          </p:cNvPr>
          <p:cNvSpPr txBox="1"/>
          <p:nvPr/>
        </p:nvSpPr>
        <p:spPr>
          <a:xfrm>
            <a:off x="736600" y="3238500"/>
            <a:ext cx="1587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Spring Boot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3F675830-7F4D-4BA0-9E9D-9DE534109E06}"/>
              </a:ext>
            </a:extLst>
          </p:cNvPr>
          <p:cNvSpPr/>
          <p:nvPr/>
        </p:nvSpPr>
        <p:spPr>
          <a:xfrm>
            <a:off x="2438400" y="3175000"/>
            <a:ext cx="1206500" cy="381000"/>
          </a:xfrm>
          <a:prstGeom prst="round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3789678-B27C-4108-A08D-184C823960B9}"/>
              </a:ext>
            </a:extLst>
          </p:cNvPr>
          <p:cNvSpPr txBox="1"/>
          <p:nvPr/>
        </p:nvSpPr>
        <p:spPr>
          <a:xfrm>
            <a:off x="2438400" y="3238500"/>
            <a:ext cx="120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Docker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16B51F6-B1EE-4AE9-8867-DA7F1D85BFE9}"/>
              </a:ext>
            </a:extLst>
          </p:cNvPr>
          <p:cNvSpPr/>
          <p:nvPr/>
        </p:nvSpPr>
        <p:spPr>
          <a:xfrm>
            <a:off x="3759200" y="3175000"/>
            <a:ext cx="1651000" cy="381000"/>
          </a:xfrm>
          <a:prstGeom prst="round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B79DD63-7391-49A3-A366-EF8B066E48E9}"/>
              </a:ext>
            </a:extLst>
          </p:cNvPr>
          <p:cNvSpPr txBox="1"/>
          <p:nvPr/>
        </p:nvSpPr>
        <p:spPr>
          <a:xfrm>
            <a:off x="3759200" y="3238500"/>
            <a:ext cx="165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PostgreSQL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CA55C1C-A414-47DF-8F17-9AC3DDA3FCBB}"/>
              </a:ext>
            </a:extLst>
          </p:cNvPr>
          <p:cNvSpPr/>
          <p:nvPr/>
        </p:nvSpPr>
        <p:spPr>
          <a:xfrm>
            <a:off x="5524500" y="3175000"/>
            <a:ext cx="1206500" cy="381000"/>
          </a:xfrm>
          <a:prstGeom prst="roundRect">
            <a:avLst/>
          </a:prstGeom>
          <a:solidFill>
            <a:srgbClr val="FF60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A259E10-AB97-4042-8690-DFD25CD6C866}"/>
              </a:ext>
            </a:extLst>
          </p:cNvPr>
          <p:cNvSpPr txBox="1"/>
          <p:nvPr/>
        </p:nvSpPr>
        <p:spPr>
          <a:xfrm>
            <a:off x="5524500" y="3238500"/>
            <a:ext cx="120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Front-end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D08B755-0D32-451D-9D06-288D74D1E10D}"/>
              </a:ext>
            </a:extLst>
          </p:cNvPr>
          <p:cNvSpPr txBox="1"/>
          <p:nvPr/>
        </p:nvSpPr>
        <p:spPr>
          <a:xfrm>
            <a:off x="736600" y="57785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>
                <a:solidFill>
                  <a:srgbClr val="B0C0D6"/>
                </a:solidFill>
                <a:latin typeface="Aptos"/>
              </a:rPr>
              <a:t>Ana Luiza Proenca Galvao | Gustavo Gomes | Kaique Lira</a:t>
            </a:r>
          </a:p>
        </p:txBody>
      </p:sp>
    </p:spTree>
    <p:extLst>
      <p:ext uri="{BB962C8B-B14F-4D97-AF65-F5344CB8AC3E}">
        <p14:creationId xmlns:p14="http://schemas.microsoft.com/office/powerpoint/2010/main" val="306547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214356-EFD7-4AB7-83AF-A167B46B21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13610F-8E7F-46E9-8475-12A6F3F6DA85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01 | ESTUDO DE CASO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53ABD6-5BA0-4C76-A6A9-3FA9507FC327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Desafio: engajamento em educacao continuada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1327A9-FE04-4BF0-8AED-03596ACAE577}"/>
              </a:ext>
            </a:extLst>
          </p:cNvPr>
          <p:cNvSpPr txBox="1"/>
          <p:nvPr/>
        </p:nvSpPr>
        <p:spPr>
          <a:xfrm>
            <a:off x="711200" y="1422400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>
                <a:solidFill>
                  <a:srgbClr val="B0C0D6"/>
                </a:solidFill>
                <a:latin typeface="Aptos"/>
              </a:rPr>
              <a:t>A plataforma vende cursos EAD por assinatura e precisa manter o aluno ativo por meio de progresso, comunidade e recompensas.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D3EBD44-C66E-40BF-B677-AD9DC0F2CC21}"/>
              </a:ext>
            </a:extLst>
          </p:cNvPr>
          <p:cNvSpPr/>
          <p:nvPr/>
        </p:nvSpPr>
        <p:spPr>
          <a:xfrm>
            <a:off x="736600" y="2413000"/>
            <a:ext cx="3175000" cy="2413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A1A993-4831-4700-8EFD-8988C79B70B7}"/>
              </a:ext>
            </a:extLst>
          </p:cNvPr>
          <p:cNvSpPr/>
          <p:nvPr/>
        </p:nvSpPr>
        <p:spPr>
          <a:xfrm>
            <a:off x="736600" y="2413000"/>
            <a:ext cx="76200" cy="2413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F7A6E2-906E-44E8-9017-C173115D36AC}"/>
              </a:ext>
            </a:extLst>
          </p:cNvPr>
          <p:cNvSpPr txBox="1"/>
          <p:nvPr/>
        </p:nvSpPr>
        <p:spPr>
          <a:xfrm>
            <a:off x="965200" y="259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Assinatura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6BA9F8-D804-4B22-877D-78B15717DB49}"/>
              </a:ext>
            </a:extLst>
          </p:cNvPr>
          <p:cNvSpPr txBox="1"/>
          <p:nvPr/>
        </p:nvSpPr>
        <p:spPr>
          <a:xfrm>
            <a:off x="965200" y="3022600"/>
            <a:ext cx="2819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Aluno paga mensalmente e acessa cursos do plano basico.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1B5F6CD-6BC3-4FC2-A80F-FD5258199CD2}"/>
              </a:ext>
            </a:extLst>
          </p:cNvPr>
          <p:cNvSpPr/>
          <p:nvPr/>
        </p:nvSpPr>
        <p:spPr>
          <a:xfrm>
            <a:off x="4495800" y="2413000"/>
            <a:ext cx="3175000" cy="2413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B2E4D7-D804-419E-9C29-91213177E37F}"/>
              </a:ext>
            </a:extLst>
          </p:cNvPr>
          <p:cNvSpPr/>
          <p:nvPr/>
        </p:nvSpPr>
        <p:spPr>
          <a:xfrm>
            <a:off x="4495800" y="2413000"/>
            <a:ext cx="76200" cy="2413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FCF56D1-8710-4016-AFD1-CA4D1C16F337}"/>
              </a:ext>
            </a:extLst>
          </p:cNvPr>
          <p:cNvSpPr txBox="1"/>
          <p:nvPr/>
        </p:nvSpPr>
        <p:spPr>
          <a:xfrm>
            <a:off x="4724400" y="259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Progresso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68F28C-892B-4A20-8C23-0EF17A582D30}"/>
              </a:ext>
            </a:extLst>
          </p:cNvPr>
          <p:cNvSpPr txBox="1"/>
          <p:nvPr/>
        </p:nvSpPr>
        <p:spPr>
          <a:xfrm>
            <a:off x="4724400" y="3022600"/>
            <a:ext cx="2819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Ao concluir curso com media acima de 7, ganha creditos para novos cursos.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9562BDA-3563-4EA1-8A3F-E25020B3A34C}"/>
              </a:ext>
            </a:extLst>
          </p:cNvPr>
          <p:cNvSpPr/>
          <p:nvPr/>
        </p:nvSpPr>
        <p:spPr>
          <a:xfrm>
            <a:off x="8255000" y="2413000"/>
            <a:ext cx="3175000" cy="2413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D63A2F0-B222-4C1B-89E6-FFA9C6EB5E47}"/>
              </a:ext>
            </a:extLst>
          </p:cNvPr>
          <p:cNvSpPr/>
          <p:nvPr/>
        </p:nvSpPr>
        <p:spPr>
          <a:xfrm>
            <a:off x="8255000" y="2413000"/>
            <a:ext cx="76200" cy="24130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075F6AC-B6D9-4D86-A50D-E0EDC06230A1}"/>
              </a:ext>
            </a:extLst>
          </p:cNvPr>
          <p:cNvSpPr txBox="1"/>
          <p:nvPr/>
        </p:nvSpPr>
        <p:spPr>
          <a:xfrm>
            <a:off x="8483600" y="259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Gamificacao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500447A-36C3-4D24-8708-03C84EFAE21C}"/>
              </a:ext>
            </a:extLst>
          </p:cNvPr>
          <p:cNvSpPr txBox="1"/>
          <p:nvPr/>
        </p:nvSpPr>
        <p:spPr>
          <a:xfrm>
            <a:off x="8483600" y="3022600"/>
            <a:ext cx="2819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Forum, ranking, projetos reais, moedas e beneficios aumentam engajamento.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106629B-62A1-4D29-AD77-A8AB9F7A05AE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CA928D-E25D-4074-B38B-1D30BFDC1334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35124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C778AA-E7A3-40A8-9C98-F3377C50E9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70C93B-E30F-47DD-8918-02E9902AB8FB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02 | SOLUCAO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E5EFB2-FD6E-431A-AC29-CDD80ADFE236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Funcionalidade principal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B08726-AA06-433F-B5EE-B4FF315672B9}"/>
              </a:ext>
            </a:extLst>
          </p:cNvPr>
          <p:cNvSpPr txBox="1"/>
          <p:nvPr/>
        </p:nvSpPr>
        <p:spPr>
          <a:xfrm>
            <a:off x="711200" y="1422400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>
                <a:solidFill>
                  <a:srgbClr val="B0C0D6"/>
                </a:solidFill>
                <a:latin typeface="Aptos"/>
              </a:rPr>
              <a:t>Jornada gamificada de educacao continuada, implementada como API REST e consumida pelo front-end Osmakapa Academy.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708508-2A64-496B-A493-23D2070D71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1397000"/>
            <a:ext cx="3556000" cy="4191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48ED2A6-5DE4-462D-8026-833AF8FAA30F}"/>
              </a:ext>
            </a:extLst>
          </p:cNvPr>
          <p:cNvSpPr txBox="1"/>
          <p:nvPr/>
        </p:nvSpPr>
        <p:spPr>
          <a:xfrm>
            <a:off x="812800" y="2222500"/>
            <a:ext cx="6096000" cy="1323439"/>
          </a:xfrm>
          <a:prstGeom prst="rect">
            <a:avLst/>
          </a:prstGeom>
          <a:noFill/>
        </p:spPr>
        <p:txBody>
          <a:bodyPr vert="horz" lIns="50800" rtlCol="0">
            <a:spAutoFit/>
          </a:bodyPr>
          <a:lstStyle/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Cadastro de alunos e assinatura ativa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Catalogo de cursos e matriculas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Conclusao com nota final e creditos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Forum, comentarios e ranking mensal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Projetos reais, moedas e resgate de beneficios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2787448-2EC7-41F7-9DB1-3DB4E554EC26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0CBB1A-46A8-412C-B43B-CA6F9013BB8E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69715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3DC9256-8731-40F5-B150-0385C3E39B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86580B-25CB-4D0D-B7B2-75E1AE59C596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03 | VISAO DO PRODUTO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FC23DB-B4AE-4BDE-A111-E413E2E59E63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Tres experiencias no mesmo ecossistema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1DE036-84AA-46E1-8A80-ACBECD0260CF}"/>
              </a:ext>
            </a:extLst>
          </p:cNvPr>
          <p:cNvSpPr/>
          <p:nvPr/>
        </p:nvSpPr>
        <p:spPr>
          <a:xfrm>
            <a:off x="736600" y="1905000"/>
            <a:ext cx="3302000" cy="2921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26BA55-7AE2-41C3-9522-3C970E3E631B}"/>
              </a:ext>
            </a:extLst>
          </p:cNvPr>
          <p:cNvSpPr/>
          <p:nvPr/>
        </p:nvSpPr>
        <p:spPr>
          <a:xfrm>
            <a:off x="736600" y="1905000"/>
            <a:ext cx="76200" cy="2921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B85196F-F41E-4613-A66C-42FDDB509717}"/>
              </a:ext>
            </a:extLst>
          </p:cNvPr>
          <p:cNvSpPr txBox="1"/>
          <p:nvPr/>
        </p:nvSpPr>
        <p:spPr>
          <a:xfrm>
            <a:off x="965200" y="2082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Aluno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A1C4125-8504-4209-8048-2F19A8428027}"/>
              </a:ext>
            </a:extLst>
          </p:cNvPr>
          <p:cNvSpPr txBox="1"/>
          <p:nvPr/>
        </p:nvSpPr>
        <p:spPr>
          <a:xfrm>
            <a:off x="965200" y="2514600"/>
            <a:ext cx="2946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Visualiza cursos, progresso, moedas, creditos, forum e beneficios conquistados.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D972318-A5EC-467D-91A4-504F097D9C36}"/>
              </a:ext>
            </a:extLst>
          </p:cNvPr>
          <p:cNvSpPr/>
          <p:nvPr/>
        </p:nvSpPr>
        <p:spPr>
          <a:xfrm>
            <a:off x="4445000" y="1905000"/>
            <a:ext cx="3302000" cy="2921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E22C868-4156-4538-82CC-86C108CDBA23}"/>
              </a:ext>
            </a:extLst>
          </p:cNvPr>
          <p:cNvSpPr/>
          <p:nvPr/>
        </p:nvSpPr>
        <p:spPr>
          <a:xfrm>
            <a:off x="4445000" y="1905000"/>
            <a:ext cx="76200" cy="2921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58FA86-02AB-4F07-A7B4-CE1AD98C5C37}"/>
              </a:ext>
            </a:extLst>
          </p:cNvPr>
          <p:cNvSpPr txBox="1"/>
          <p:nvPr/>
        </p:nvSpPr>
        <p:spPr>
          <a:xfrm>
            <a:off x="4673600" y="2082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Professor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795ABD8-4F26-4BBA-8DAC-0D0FE684C447}"/>
              </a:ext>
            </a:extLst>
          </p:cNvPr>
          <p:cNvSpPr txBox="1"/>
          <p:nvPr/>
        </p:nvSpPr>
        <p:spPr>
          <a:xfrm>
            <a:off x="4673600" y="2514600"/>
            <a:ext cx="2946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Acompanha turma, matriculas, notas, participacao e evolucao academica.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CF28DD9-9E77-4F0E-9138-A213806B2360}"/>
              </a:ext>
            </a:extLst>
          </p:cNvPr>
          <p:cNvSpPr/>
          <p:nvPr/>
        </p:nvSpPr>
        <p:spPr>
          <a:xfrm>
            <a:off x="8153400" y="1905000"/>
            <a:ext cx="3302000" cy="2921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C461EE-292E-447F-9031-BE31D816A3E4}"/>
              </a:ext>
            </a:extLst>
          </p:cNvPr>
          <p:cNvSpPr/>
          <p:nvPr/>
        </p:nvSpPr>
        <p:spPr>
          <a:xfrm>
            <a:off x="8153400" y="1905000"/>
            <a:ext cx="76200" cy="29210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F9C2498-413C-4211-A512-4F74987656B6}"/>
              </a:ext>
            </a:extLst>
          </p:cNvPr>
          <p:cNvSpPr txBox="1"/>
          <p:nvPr/>
        </p:nvSpPr>
        <p:spPr>
          <a:xfrm>
            <a:off x="8382000" y="2082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Curador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9DAE36-2A97-47D4-BEF1-0855016540E2}"/>
              </a:ext>
            </a:extLst>
          </p:cNvPr>
          <p:cNvSpPr txBox="1"/>
          <p:nvPr/>
        </p:nvSpPr>
        <p:spPr>
          <a:xfrm>
            <a:off x="8382000" y="2514600"/>
            <a:ext cx="2946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Organiza catalogo, projetos reais, recompensas e qualidade da jornada.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BFE9CCB-4A37-4089-9F8A-166AA92C521E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625A9F-F83C-4BFD-9C3E-D589F174F759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48564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02D9464-69F7-47B6-AB89-74C1B1F016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7657B0-C19D-49BB-99A9-792E72FAD5F7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04 | BACKLOG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841474-1B4D-4F9D-B990-31596F50DC8A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Backlog principal do MVP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B92F051-9B0B-4D70-9E47-7BC829BB5BAA}"/>
              </a:ext>
            </a:extLst>
          </p:cNvPr>
          <p:cNvSpPr/>
          <p:nvPr/>
        </p:nvSpPr>
        <p:spPr>
          <a:xfrm>
            <a:off x="711200" y="1651000"/>
            <a:ext cx="5143500" cy="13335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BF3E15-3E6B-45FD-9B96-346C47F614D5}"/>
              </a:ext>
            </a:extLst>
          </p:cNvPr>
          <p:cNvSpPr/>
          <p:nvPr/>
        </p:nvSpPr>
        <p:spPr>
          <a:xfrm>
            <a:off x="711200" y="1651000"/>
            <a:ext cx="76200" cy="13335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E53FF4-2EDF-4738-AA7F-5FEA4665207C}"/>
              </a:ext>
            </a:extLst>
          </p:cNvPr>
          <p:cNvSpPr txBox="1"/>
          <p:nvPr/>
        </p:nvSpPr>
        <p:spPr>
          <a:xfrm>
            <a:off x="939800" y="1828800"/>
            <a:ext cx="4787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Must Have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784263-595D-4873-B797-892CEF14180B}"/>
              </a:ext>
            </a:extLst>
          </p:cNvPr>
          <p:cNvSpPr txBox="1"/>
          <p:nvPr/>
        </p:nvSpPr>
        <p:spPr>
          <a:xfrm>
            <a:off x="939800" y="2260600"/>
            <a:ext cx="47879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Usuarios, cursos, matriculas, conclusao, progresso, forum, ranking, projetos reais e beneficios.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BDA88C1-A2F1-4C19-9C96-C4C35558FF93}"/>
              </a:ext>
            </a:extLst>
          </p:cNvPr>
          <p:cNvSpPr/>
          <p:nvPr/>
        </p:nvSpPr>
        <p:spPr>
          <a:xfrm>
            <a:off x="6350000" y="1651000"/>
            <a:ext cx="5143500" cy="13335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2EE4F83-D9DC-40C3-AC3D-59A96315F9D3}"/>
              </a:ext>
            </a:extLst>
          </p:cNvPr>
          <p:cNvSpPr/>
          <p:nvPr/>
        </p:nvSpPr>
        <p:spPr>
          <a:xfrm>
            <a:off x="6350000" y="1651000"/>
            <a:ext cx="76200" cy="13335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10018A-ACCB-4543-AD89-B298C7BBD8B1}"/>
              </a:ext>
            </a:extLst>
          </p:cNvPr>
          <p:cNvSpPr txBox="1"/>
          <p:nvPr/>
        </p:nvSpPr>
        <p:spPr>
          <a:xfrm>
            <a:off x="6578600" y="1828800"/>
            <a:ext cx="4787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Should Have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BC767B-A186-48D5-9F14-47A5050B6A27}"/>
              </a:ext>
            </a:extLst>
          </p:cNvPr>
          <p:cNvSpPr txBox="1"/>
          <p:nvPr/>
        </p:nvSpPr>
        <p:spPr>
          <a:xfrm>
            <a:off x="6578600" y="2260600"/>
            <a:ext cx="47879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Pagamentos, assinatura, Swagger, Docker Compose e front-end academico integrado.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8F368B0-3E4E-4AFE-8DAA-B5A3437D8CA5}"/>
              </a:ext>
            </a:extLst>
          </p:cNvPr>
          <p:cNvSpPr/>
          <p:nvPr/>
        </p:nvSpPr>
        <p:spPr>
          <a:xfrm>
            <a:off x="711200" y="3429000"/>
            <a:ext cx="5143500" cy="13335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76C2889-75B9-42C2-9D6F-AA5E11A06150}"/>
              </a:ext>
            </a:extLst>
          </p:cNvPr>
          <p:cNvSpPr/>
          <p:nvPr/>
        </p:nvSpPr>
        <p:spPr>
          <a:xfrm>
            <a:off x="711200" y="3429000"/>
            <a:ext cx="76200" cy="13335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10D5260-66C2-4E20-854F-D3BFA9AFD080}"/>
              </a:ext>
            </a:extLst>
          </p:cNvPr>
          <p:cNvSpPr txBox="1"/>
          <p:nvPr/>
        </p:nvSpPr>
        <p:spPr>
          <a:xfrm>
            <a:off x="939800" y="3606800"/>
            <a:ext cx="4787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Could Have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436D2A6-F902-4597-B5AB-0A26843C37D5}"/>
              </a:ext>
            </a:extLst>
          </p:cNvPr>
          <p:cNvSpPr txBox="1"/>
          <p:nvPr/>
        </p:nvSpPr>
        <p:spPr>
          <a:xfrm>
            <a:off x="939800" y="4038600"/>
            <a:ext cx="47879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Dashboard avancado do professor, curadoria, filtros, relatorios e notificacoes.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B393B87-3FAF-4350-ABFF-F3DA18E6A29C}"/>
              </a:ext>
            </a:extLst>
          </p:cNvPr>
          <p:cNvSpPr/>
          <p:nvPr/>
        </p:nvSpPr>
        <p:spPr>
          <a:xfrm>
            <a:off x="6350000" y="3429000"/>
            <a:ext cx="5143500" cy="13335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BC3800-1FB7-4CFF-A5CA-63CDC4E7C597}"/>
              </a:ext>
            </a:extLst>
          </p:cNvPr>
          <p:cNvSpPr/>
          <p:nvPr/>
        </p:nvSpPr>
        <p:spPr>
          <a:xfrm>
            <a:off x="6350000" y="3429000"/>
            <a:ext cx="76200" cy="1333500"/>
          </a:xfrm>
          <a:prstGeom prst="rect">
            <a:avLst/>
          </a:prstGeom>
          <a:solidFill>
            <a:srgbClr val="FF60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8926D5B-42AE-42B0-94B2-4F368103212C}"/>
              </a:ext>
            </a:extLst>
          </p:cNvPr>
          <p:cNvSpPr txBox="1"/>
          <p:nvPr/>
        </p:nvSpPr>
        <p:spPr>
          <a:xfrm>
            <a:off x="6578600" y="3606800"/>
            <a:ext cx="4787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Out of Scope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F78911-C50D-42E8-A70F-DDC65D96658F}"/>
              </a:ext>
            </a:extLst>
          </p:cNvPr>
          <p:cNvSpPr txBox="1"/>
          <p:nvPr/>
        </p:nvSpPr>
        <p:spPr>
          <a:xfrm>
            <a:off x="6578600" y="4038600"/>
            <a:ext cx="47879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Gateway de pagamento real, criptomoeda real, app mobile nativo e LLM Gemini.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C71FCC2-C2BF-4DFB-947B-4FC6FA6B8A5A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B9F2674-4369-44A9-B237-488897C69141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37429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DEAC78-C079-458D-925A-20066A0BFA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70A562-0519-4799-8440-0B971E1D63A3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05 | DOMINIO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828E9F-D713-42C7-8B72-64E8F1F893D4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Objetos e classes principais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01294A-B3D4-4961-A246-0F4DD93DDFD1}"/>
              </a:ext>
            </a:extLst>
          </p:cNvPr>
          <p:cNvSpPr txBox="1"/>
          <p:nvPr/>
        </p:nvSpPr>
        <p:spPr>
          <a:xfrm>
            <a:off x="762000" y="1714500"/>
            <a:ext cx="4953000" cy="1492716"/>
          </a:xfrm>
          <a:prstGeom prst="rect">
            <a:avLst/>
          </a:prstGeom>
          <a:noFill/>
        </p:spPr>
        <p:txBody>
          <a:bodyPr vert="horz" lIns="50800" rtlCol="0">
            <a:spAutoFit/>
          </a:bodyPr>
          <a:lstStyle/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Usuario / Assinatura / PlanoAssinatura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Curso / Matricula / StatusMatricula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PagamentoAssinatura / StatusPagamento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PostagemForum / ComentarioForum / BonusForumMensal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ProjetoReal / ParticipacaoProjeto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ResgateBeneficio / TipoBeneficio</a:t>
            </a:r>
          </a:p>
          <a:p>
            <a:r>
              <a:rPr lang="pt-BR" sz="1300">
                <a:solidFill>
                  <a:srgbClr val="DCE7F5"/>
                </a:solidFill>
                <a:latin typeface="Aptos"/>
              </a:rPr>
              <a:t>â€¢ VOs: Nome, Email, Senha, Titulo e Descricao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B70ADFB-D585-410B-8E2D-2808C2A39CC5}"/>
              </a:ext>
            </a:extLst>
          </p:cNvPr>
          <p:cNvSpPr/>
          <p:nvPr/>
        </p:nvSpPr>
        <p:spPr>
          <a:xfrm>
            <a:off x="6604000" y="1905000"/>
            <a:ext cx="4191000" cy="2667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B7F00B3-CD8C-4E61-8E5C-7680DDFBF7DA}"/>
              </a:ext>
            </a:extLst>
          </p:cNvPr>
          <p:cNvSpPr/>
          <p:nvPr/>
        </p:nvSpPr>
        <p:spPr>
          <a:xfrm>
            <a:off x="6604000" y="1905000"/>
            <a:ext cx="76200" cy="2667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63FE20-AFF1-42B3-91D6-57F418B5AABA}"/>
              </a:ext>
            </a:extLst>
          </p:cNvPr>
          <p:cNvSpPr txBox="1"/>
          <p:nvPr/>
        </p:nvSpPr>
        <p:spPr>
          <a:xfrm>
            <a:off x="6832600" y="2082800"/>
            <a:ext cx="383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Regra central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FFBB60-B2B0-4D7D-A6F7-641F22FAD629}"/>
              </a:ext>
            </a:extLst>
          </p:cNvPr>
          <p:cNvSpPr txBox="1"/>
          <p:nvPr/>
        </p:nvSpPr>
        <p:spPr>
          <a:xfrm>
            <a:off x="6832600" y="2514600"/>
            <a:ext cx="3835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Aluno conclui curso com media &gt;= 7, ganha creditos, participa do forum, sobe no ranking, ganha bonus e usa moedas para beneficios.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5B252E0-6935-4654-B08B-0A856C3F9C14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FA82AEA-61B8-4BF9-997A-430A84D94366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46608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A1DEA16-F901-49F6-BBBF-2BB91268B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F63A0D-B0BF-4D75-A876-A24F5179DF52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06 | ARQUITETURA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8B04C3-F37B-4067-AFD0-2279CE360715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Camadas do projeto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1B287E0-4A90-4477-98F0-E8830FA827F5}"/>
              </a:ext>
            </a:extLst>
          </p:cNvPr>
          <p:cNvSpPr/>
          <p:nvPr/>
        </p:nvSpPr>
        <p:spPr>
          <a:xfrm>
            <a:off x="1143000" y="1676400"/>
            <a:ext cx="9652000" cy="7366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38291F-FAEA-4D2B-9ED1-FB9CBF790122}"/>
              </a:ext>
            </a:extLst>
          </p:cNvPr>
          <p:cNvSpPr/>
          <p:nvPr/>
        </p:nvSpPr>
        <p:spPr>
          <a:xfrm>
            <a:off x="1143000" y="1676400"/>
            <a:ext cx="76200" cy="7366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B597AD-CE36-4DDD-BDB8-660D513EAB8B}"/>
              </a:ext>
            </a:extLst>
          </p:cNvPr>
          <p:cNvSpPr txBox="1"/>
          <p:nvPr/>
        </p:nvSpPr>
        <p:spPr>
          <a:xfrm>
            <a:off x="1371600" y="18542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Controller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D2B98F4-C893-47DC-B2AE-FCC1953A78CA}"/>
              </a:ext>
            </a:extLst>
          </p:cNvPr>
          <p:cNvSpPr txBox="1"/>
          <p:nvPr/>
        </p:nvSpPr>
        <p:spPr>
          <a:xfrm>
            <a:off x="1371600" y="2286000"/>
            <a:ext cx="929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REST, rotas, validacao de entrada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3A6CC57-438B-4B63-8C95-A4A75F3123D1}"/>
              </a:ext>
            </a:extLst>
          </p:cNvPr>
          <p:cNvSpPr/>
          <p:nvPr/>
        </p:nvSpPr>
        <p:spPr>
          <a:xfrm>
            <a:off x="1143000" y="2565400"/>
            <a:ext cx="9652000" cy="7366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20FABD-E712-4727-94F4-29975BDA69AC}"/>
              </a:ext>
            </a:extLst>
          </p:cNvPr>
          <p:cNvSpPr/>
          <p:nvPr/>
        </p:nvSpPr>
        <p:spPr>
          <a:xfrm>
            <a:off x="1143000" y="2565400"/>
            <a:ext cx="76200" cy="7366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808B89-5C64-4A02-9138-0AC6F8525D85}"/>
              </a:ext>
            </a:extLst>
          </p:cNvPr>
          <p:cNvSpPr txBox="1"/>
          <p:nvPr/>
        </p:nvSpPr>
        <p:spPr>
          <a:xfrm>
            <a:off x="1371600" y="27432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DTO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870E24-383D-49BD-ADB6-FDDAD2ED7323}"/>
              </a:ext>
            </a:extLst>
          </p:cNvPr>
          <p:cNvSpPr txBox="1"/>
          <p:nvPr/>
        </p:nvSpPr>
        <p:spPr>
          <a:xfrm>
            <a:off x="1371600" y="3175000"/>
            <a:ext cx="929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Request/Response sem expor dominio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9AC9F6B-90A4-42B5-A9EB-AAE4DD97835D}"/>
              </a:ext>
            </a:extLst>
          </p:cNvPr>
          <p:cNvSpPr/>
          <p:nvPr/>
        </p:nvSpPr>
        <p:spPr>
          <a:xfrm>
            <a:off x="1143000" y="3454400"/>
            <a:ext cx="9652000" cy="7366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AEE8DBD-FA9C-4599-8328-DD592DE30383}"/>
              </a:ext>
            </a:extLst>
          </p:cNvPr>
          <p:cNvSpPr/>
          <p:nvPr/>
        </p:nvSpPr>
        <p:spPr>
          <a:xfrm>
            <a:off x="1143000" y="3454400"/>
            <a:ext cx="76200" cy="7366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CD2B3B-8AD8-41D6-AF2D-4C24599F77CB}"/>
              </a:ext>
            </a:extLst>
          </p:cNvPr>
          <p:cNvSpPr txBox="1"/>
          <p:nvPr/>
        </p:nvSpPr>
        <p:spPr>
          <a:xfrm>
            <a:off x="1371600" y="36322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Service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0C9CB1-851F-4F1A-A47C-48A40F44C2B9}"/>
              </a:ext>
            </a:extLst>
          </p:cNvPr>
          <p:cNvSpPr txBox="1"/>
          <p:nvPr/>
        </p:nvSpPr>
        <p:spPr>
          <a:xfrm>
            <a:off x="1371600" y="4064000"/>
            <a:ext cx="929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Regras de negocio e casos de uso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CE54445-FD82-4CAD-A793-764041E1C9A9}"/>
              </a:ext>
            </a:extLst>
          </p:cNvPr>
          <p:cNvSpPr/>
          <p:nvPr/>
        </p:nvSpPr>
        <p:spPr>
          <a:xfrm>
            <a:off x="1143000" y="4343400"/>
            <a:ext cx="9652000" cy="7366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47DD412-D1B1-47E4-BE81-228E0FC3E79B}"/>
              </a:ext>
            </a:extLst>
          </p:cNvPr>
          <p:cNvSpPr/>
          <p:nvPr/>
        </p:nvSpPr>
        <p:spPr>
          <a:xfrm>
            <a:off x="1143000" y="4343400"/>
            <a:ext cx="76200" cy="7366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3EA0EB4-2809-4805-ABDD-AB38E0ECA7B6}"/>
              </a:ext>
            </a:extLst>
          </p:cNvPr>
          <p:cNvSpPr txBox="1"/>
          <p:nvPr/>
        </p:nvSpPr>
        <p:spPr>
          <a:xfrm>
            <a:off x="1371600" y="45212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Repository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86D4E-088E-4157-8253-AF9B4AB8282D}"/>
              </a:ext>
            </a:extLst>
          </p:cNvPr>
          <p:cNvSpPr txBox="1"/>
          <p:nvPr/>
        </p:nvSpPr>
        <p:spPr>
          <a:xfrm>
            <a:off x="1371600" y="4953000"/>
            <a:ext cx="929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Persistencia com Spring Data JPA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1ED1562-C8A2-4D2C-8022-9DC5B522354F}"/>
              </a:ext>
            </a:extLst>
          </p:cNvPr>
          <p:cNvSpPr/>
          <p:nvPr/>
        </p:nvSpPr>
        <p:spPr>
          <a:xfrm>
            <a:off x="1143000" y="5232400"/>
            <a:ext cx="9652000" cy="7366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2909A79-1448-4D56-A7D0-A78463A62195}"/>
              </a:ext>
            </a:extLst>
          </p:cNvPr>
          <p:cNvSpPr/>
          <p:nvPr/>
        </p:nvSpPr>
        <p:spPr>
          <a:xfrm>
            <a:off x="1143000" y="5232400"/>
            <a:ext cx="76200" cy="7366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239097E-343D-481B-8429-44BE867139AA}"/>
              </a:ext>
            </a:extLst>
          </p:cNvPr>
          <p:cNvSpPr txBox="1"/>
          <p:nvPr/>
        </p:nvSpPr>
        <p:spPr>
          <a:xfrm>
            <a:off x="1371600" y="54102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Domain + 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AA74CAA-321B-4AC3-A025-3D9D7C331296}"/>
              </a:ext>
            </a:extLst>
          </p:cNvPr>
          <p:cNvSpPr txBox="1"/>
          <p:nvPr/>
        </p:nvSpPr>
        <p:spPr>
          <a:xfrm>
            <a:off x="1371600" y="5842000"/>
            <a:ext cx="929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Entidades, objetos de valor e regras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43F3B97-20BE-462B-8DEC-518B0E8EDCE2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B7533F-FD32-4E2C-AAB7-14573358FE39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127927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06EA8F-4D39-4353-B775-C9908771EB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6A6D98-25A4-4660-8D8D-9426155E4416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07 | API REST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486448-3F9C-46BD-A7D6-EA05C72DA1F1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Endpoints implementados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7D5C9C2-A393-4350-9CC1-8E9D58233AD5}"/>
              </a:ext>
            </a:extLst>
          </p:cNvPr>
          <p:cNvSpPr/>
          <p:nvPr/>
        </p:nvSpPr>
        <p:spPr>
          <a:xfrm>
            <a:off x="685800" y="1651000"/>
            <a:ext cx="3302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9397F4-7786-42DA-BD3A-8129D25BECAF}"/>
              </a:ext>
            </a:extLst>
          </p:cNvPr>
          <p:cNvSpPr/>
          <p:nvPr/>
        </p:nvSpPr>
        <p:spPr>
          <a:xfrm>
            <a:off x="685800" y="1651000"/>
            <a:ext cx="76200" cy="1905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8E95CC-8C71-40F4-B5A9-FCC285F540E5}"/>
              </a:ext>
            </a:extLst>
          </p:cNvPr>
          <p:cNvSpPr txBox="1"/>
          <p:nvPr/>
        </p:nvSpPr>
        <p:spPr>
          <a:xfrm>
            <a:off x="914400" y="1828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Academico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BF135F-87B5-4C43-BB38-D6B34051697B}"/>
              </a:ext>
            </a:extLst>
          </p:cNvPr>
          <p:cNvSpPr txBox="1"/>
          <p:nvPr/>
        </p:nvSpPr>
        <p:spPr>
          <a:xfrm>
            <a:off x="914400" y="2260600"/>
            <a:ext cx="2946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GET/POST/PUT/DELETE /api/cursos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POST /api/matriculas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PUT /api/matriculas/{id}/concluir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0C6A40C-E8D7-47B9-BE49-80B7A8044C3B}"/>
              </a:ext>
            </a:extLst>
          </p:cNvPr>
          <p:cNvSpPr/>
          <p:nvPr/>
        </p:nvSpPr>
        <p:spPr>
          <a:xfrm>
            <a:off x="4445000" y="1651000"/>
            <a:ext cx="3302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FD95A22-C499-42E0-9869-D0A9C29ED5EB}"/>
              </a:ext>
            </a:extLst>
          </p:cNvPr>
          <p:cNvSpPr/>
          <p:nvPr/>
        </p:nvSpPr>
        <p:spPr>
          <a:xfrm>
            <a:off x="4445000" y="1651000"/>
            <a:ext cx="76200" cy="1905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96F943-0CD9-409E-8E3C-1BC4DEF704B4}"/>
              </a:ext>
            </a:extLst>
          </p:cNvPr>
          <p:cNvSpPr txBox="1"/>
          <p:nvPr/>
        </p:nvSpPr>
        <p:spPr>
          <a:xfrm>
            <a:off x="4673600" y="1828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Comunidade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0D863E8-8893-4EB9-A14F-7F4DD994E93E}"/>
              </a:ext>
            </a:extLst>
          </p:cNvPr>
          <p:cNvSpPr txBox="1"/>
          <p:nvPr/>
        </p:nvSpPr>
        <p:spPr>
          <a:xfrm>
            <a:off x="4673600" y="2260600"/>
            <a:ext cx="2946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B9C7DC"/>
                </a:solidFill>
                <a:latin typeface="Aptos"/>
              </a:rPr>
              <a:t>GET/POST /api/forum/postagens</a:t>
            </a:r>
          </a:p>
          <a:p>
            <a:r>
              <a:rPr lang="en-US" sz="1100">
                <a:solidFill>
                  <a:srgbClr val="B9C7DC"/>
                </a:solidFill>
                <a:latin typeface="Aptos"/>
              </a:rPr>
              <a:t>POST /comentarios</a:t>
            </a:r>
          </a:p>
          <a:p>
            <a:r>
              <a:rPr lang="en-US" sz="1100">
                <a:solidFill>
                  <a:srgbClr val="B9C7DC"/>
                </a:solidFill>
                <a:latin typeface="Aptos"/>
              </a:rPr>
              <a:t>GET /api/forum/ranking</a:t>
            </a:r>
            <a:endParaRPr lang="pt-BR" sz="1100">
              <a:solidFill>
                <a:srgbClr val="B9C7DC"/>
              </a:solidFill>
              <a:latin typeface="Aptos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6FBE838-0E1D-4CE9-A627-AE2CE139F47C}"/>
              </a:ext>
            </a:extLst>
          </p:cNvPr>
          <p:cNvSpPr/>
          <p:nvPr/>
        </p:nvSpPr>
        <p:spPr>
          <a:xfrm>
            <a:off x="8204200" y="1651000"/>
            <a:ext cx="3302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01D587A-FC5B-4917-B2FD-F3559535B303}"/>
              </a:ext>
            </a:extLst>
          </p:cNvPr>
          <p:cNvSpPr/>
          <p:nvPr/>
        </p:nvSpPr>
        <p:spPr>
          <a:xfrm>
            <a:off x="8204200" y="1651000"/>
            <a:ext cx="76200" cy="19050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586EDDE-4565-4690-9F62-B35D4E726A80}"/>
              </a:ext>
            </a:extLst>
          </p:cNvPr>
          <p:cNvSpPr txBox="1"/>
          <p:nvPr/>
        </p:nvSpPr>
        <p:spPr>
          <a:xfrm>
            <a:off x="8432800" y="1828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Gamificacao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4A651B-B7C5-4D8F-88C4-F026B037FFAF}"/>
              </a:ext>
            </a:extLst>
          </p:cNvPr>
          <p:cNvSpPr txBox="1"/>
          <p:nvPr/>
        </p:nvSpPr>
        <p:spPr>
          <a:xfrm>
            <a:off x="8432800" y="2260600"/>
            <a:ext cx="2946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POST /api/projetos-reais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POST /participacoes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POST /api/beneficios/resgates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7C2112E-B825-4947-AD69-7C01B4CFF28F}"/>
              </a:ext>
            </a:extLst>
          </p:cNvPr>
          <p:cNvSpPr/>
          <p:nvPr/>
        </p:nvSpPr>
        <p:spPr>
          <a:xfrm>
            <a:off x="2565400" y="4127500"/>
            <a:ext cx="3302000" cy="1270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22CA809-76C3-4B1B-9F98-985E2E5FD763}"/>
              </a:ext>
            </a:extLst>
          </p:cNvPr>
          <p:cNvSpPr/>
          <p:nvPr/>
        </p:nvSpPr>
        <p:spPr>
          <a:xfrm>
            <a:off x="2565400" y="4127500"/>
            <a:ext cx="76200" cy="1270000"/>
          </a:xfrm>
          <a:prstGeom prst="rect">
            <a:avLst/>
          </a:prstGeom>
          <a:solidFill>
            <a:srgbClr val="FF60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957203-9696-4D06-91A6-513739631E7D}"/>
              </a:ext>
            </a:extLst>
          </p:cNvPr>
          <p:cNvSpPr txBox="1"/>
          <p:nvPr/>
        </p:nvSpPr>
        <p:spPr>
          <a:xfrm>
            <a:off x="2794000" y="43053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Usuarios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47A2E2-AAE1-4E8E-875F-46DB823088B8}"/>
              </a:ext>
            </a:extLst>
          </p:cNvPr>
          <p:cNvSpPr txBox="1"/>
          <p:nvPr/>
        </p:nvSpPr>
        <p:spPr>
          <a:xfrm>
            <a:off x="2794000" y="4737100"/>
            <a:ext cx="2946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GET /api/usuarios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POST /api/usuarios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8D31E4C-6787-49DE-A71F-E374FAC61F34}"/>
              </a:ext>
            </a:extLst>
          </p:cNvPr>
          <p:cNvSpPr/>
          <p:nvPr/>
        </p:nvSpPr>
        <p:spPr>
          <a:xfrm>
            <a:off x="6324600" y="4127500"/>
            <a:ext cx="3302000" cy="1270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C7DB336-AABE-43EB-B465-EBF87EEB2404}"/>
              </a:ext>
            </a:extLst>
          </p:cNvPr>
          <p:cNvSpPr/>
          <p:nvPr/>
        </p:nvSpPr>
        <p:spPr>
          <a:xfrm>
            <a:off x="6324600" y="4127500"/>
            <a:ext cx="76200" cy="1270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E4AED25-85A8-459F-AAFB-315435EF6B72}"/>
              </a:ext>
            </a:extLst>
          </p:cNvPr>
          <p:cNvSpPr txBox="1"/>
          <p:nvPr/>
        </p:nvSpPr>
        <p:spPr>
          <a:xfrm>
            <a:off x="6553200" y="43053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Financeiro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9930AAC-9CA0-4620-954A-F1BE6A56F094}"/>
              </a:ext>
            </a:extLst>
          </p:cNvPr>
          <p:cNvSpPr txBox="1"/>
          <p:nvPr/>
        </p:nvSpPr>
        <p:spPr>
          <a:xfrm>
            <a:off x="6553200" y="4737100"/>
            <a:ext cx="29464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POST /api/pagamentos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PUT confirmar/cancelar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E3C0585-5A1B-4219-A8D3-154B6D201362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18C02A-78B2-4D7F-8560-7DF349C45013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96212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AA0DAA3-D217-452B-A9CF-2070D842D4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B83A68-B178-4945-AF72-815292F53075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08 | FLUXO DE USO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E06F17-30C9-4D75-96F0-BC995993C07D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Jornada demonstravel na apresentacao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B1AC254-6944-438A-A552-85BA9C703F17}"/>
              </a:ext>
            </a:extLst>
          </p:cNvPr>
          <p:cNvSpPr/>
          <p:nvPr/>
        </p:nvSpPr>
        <p:spPr>
          <a:xfrm>
            <a:off x="8890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E2DED6-6639-4E6D-AD95-60D68CF820E6}"/>
              </a:ext>
            </a:extLst>
          </p:cNvPr>
          <p:cNvSpPr txBox="1"/>
          <p:nvPr/>
        </p:nvSpPr>
        <p:spPr>
          <a:xfrm>
            <a:off x="8890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1. Criar aluno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848F3C3-DD33-4D49-B715-68E86F9A1C2A}"/>
              </a:ext>
            </a:extLst>
          </p:cNvPr>
          <p:cNvSpPr/>
          <p:nvPr/>
        </p:nvSpPr>
        <p:spPr>
          <a:xfrm>
            <a:off x="23876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DE84BD-CA6D-4F05-BFE7-6C45BC90AF9F}"/>
              </a:ext>
            </a:extLst>
          </p:cNvPr>
          <p:cNvSpPr txBox="1"/>
          <p:nvPr/>
        </p:nvSpPr>
        <p:spPr>
          <a:xfrm>
            <a:off x="23876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2. Criar curso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82F1EA6-AC7C-4DE4-B457-26F1425CB6D8}"/>
              </a:ext>
            </a:extLst>
          </p:cNvPr>
          <p:cNvSpPr/>
          <p:nvPr/>
        </p:nvSpPr>
        <p:spPr>
          <a:xfrm>
            <a:off x="38862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17E511-1BC8-4558-A1EF-7117548CA181}"/>
              </a:ext>
            </a:extLst>
          </p:cNvPr>
          <p:cNvSpPr txBox="1"/>
          <p:nvPr/>
        </p:nvSpPr>
        <p:spPr>
          <a:xfrm>
            <a:off x="38862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3. Matricular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086691E-49B8-47CA-8E7F-1183B12C72CA}"/>
              </a:ext>
            </a:extLst>
          </p:cNvPr>
          <p:cNvSpPr/>
          <p:nvPr/>
        </p:nvSpPr>
        <p:spPr>
          <a:xfrm>
            <a:off x="53848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D6EB88-2A4C-4130-84A1-12CBD2D33E15}"/>
              </a:ext>
            </a:extLst>
          </p:cNvPr>
          <p:cNvSpPr txBox="1"/>
          <p:nvPr/>
        </p:nvSpPr>
        <p:spPr>
          <a:xfrm>
            <a:off x="53848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4. Concluir com nota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C1D0FE-646E-4462-930B-106B14B68E73}"/>
              </a:ext>
            </a:extLst>
          </p:cNvPr>
          <p:cNvSpPr/>
          <p:nvPr/>
        </p:nvSpPr>
        <p:spPr>
          <a:xfrm>
            <a:off x="68834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CA67243-3A3A-4FBF-B129-07A29548E6CF}"/>
              </a:ext>
            </a:extLst>
          </p:cNvPr>
          <p:cNvSpPr txBox="1"/>
          <p:nvPr/>
        </p:nvSpPr>
        <p:spPr>
          <a:xfrm>
            <a:off x="68834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5. Interagir no forum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040A4FC-701E-4422-AE89-60F9E0EE7216}"/>
              </a:ext>
            </a:extLst>
          </p:cNvPr>
          <p:cNvSpPr/>
          <p:nvPr/>
        </p:nvSpPr>
        <p:spPr>
          <a:xfrm>
            <a:off x="83820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E86762-FE9C-496F-8FB0-6F3010A91AE6}"/>
              </a:ext>
            </a:extLst>
          </p:cNvPr>
          <p:cNvSpPr txBox="1"/>
          <p:nvPr/>
        </p:nvSpPr>
        <p:spPr>
          <a:xfrm>
            <a:off x="8382000" y="2730500"/>
            <a:ext cx="13335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6. Participar de projeto real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BACB354-791D-4A16-92AA-4F5147EEBE2B}"/>
              </a:ext>
            </a:extLst>
          </p:cNvPr>
          <p:cNvSpPr/>
          <p:nvPr/>
        </p:nvSpPr>
        <p:spPr>
          <a:xfrm>
            <a:off x="9880600" y="2667000"/>
            <a:ext cx="1333500" cy="381000"/>
          </a:xfrm>
          <a:prstGeom prst="round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9D01A81-1399-4E48-96AA-A0188A6631E2}"/>
              </a:ext>
            </a:extLst>
          </p:cNvPr>
          <p:cNvSpPr txBox="1"/>
          <p:nvPr/>
        </p:nvSpPr>
        <p:spPr>
          <a:xfrm>
            <a:off x="9880600" y="2730500"/>
            <a:ext cx="1333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000" b="1">
                <a:solidFill>
                  <a:srgbClr val="081222"/>
                </a:solidFill>
                <a:latin typeface="Aptos"/>
              </a:rPr>
              <a:t>7. Resgatar beneficio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8101D87-4420-4EBF-8E13-F2D9E34001B0}"/>
              </a:ext>
            </a:extLst>
          </p:cNvPr>
          <p:cNvSpPr/>
          <p:nvPr/>
        </p:nvSpPr>
        <p:spPr>
          <a:xfrm>
            <a:off x="2032000" y="3937000"/>
            <a:ext cx="8128000" cy="13335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B9EB0D3-7252-45AA-A003-04531BDCBDEF}"/>
              </a:ext>
            </a:extLst>
          </p:cNvPr>
          <p:cNvSpPr/>
          <p:nvPr/>
        </p:nvSpPr>
        <p:spPr>
          <a:xfrm>
            <a:off x="2032000" y="3937000"/>
            <a:ext cx="76200" cy="13335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DE99018-C3C2-479F-AFB3-0B51A7538511}"/>
              </a:ext>
            </a:extLst>
          </p:cNvPr>
          <p:cNvSpPr txBox="1"/>
          <p:nvPr/>
        </p:nvSpPr>
        <p:spPr>
          <a:xfrm>
            <a:off x="2260600" y="4114800"/>
            <a:ext cx="777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Resultado esperado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FEBB675-A20D-4521-8848-0A97AA9E4FA9}"/>
              </a:ext>
            </a:extLst>
          </p:cNvPr>
          <p:cNvSpPr txBox="1"/>
          <p:nvPr/>
        </p:nvSpPr>
        <p:spPr>
          <a:xfrm>
            <a:off x="2260600" y="4546600"/>
            <a:ext cx="777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O aluno acumula progresso academico, creditos, moedas, participacao no ranking e beneficios dentro da plataforma.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8E62ED8-CE8D-46B9-8D77-751732EF297D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7D62C2C-BC26-4A89-A130-B3CBF0A47343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151176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29072E-7B98-4F1E-8D94-CE457F3338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560376-EE92-4CBD-A924-000162247315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09 | GAMIFICACAO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F0CB2B-541A-45E3-9207-D5F004A842B5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Regras de engajamento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34F8420-5FD9-4BEE-8A99-2865DC392F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87500"/>
            <a:ext cx="3429000" cy="40005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A56467-17DE-4351-B9D5-9297B3B0CA97}"/>
              </a:ext>
            </a:extLst>
          </p:cNvPr>
          <p:cNvSpPr txBox="1"/>
          <p:nvPr/>
        </p:nvSpPr>
        <p:spPr>
          <a:xfrm>
            <a:off x="812800" y="1905000"/>
            <a:ext cx="6223000" cy="1246495"/>
          </a:xfrm>
          <a:prstGeom prst="rect">
            <a:avLst/>
          </a:prstGeom>
          <a:noFill/>
        </p:spPr>
        <p:txBody>
          <a:bodyPr vert="horz" lIns="50800" rtlCol="0">
            <a:spAutoFit/>
          </a:bodyPr>
          <a:lstStyle/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Media &gt;= 7 libera creditos para mais cursos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Aluno mais participativo do forum recebe bonus mensal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Projetos reais geram moedas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Moedas podem virar curso extra, mentoria ou certificado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Ao conquistar 12 cursos, aluno evolui para Premium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EA40EF0-6C91-4DAC-BF47-2D1B9F5463B7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8A6B8B9-1611-4554-9355-FCABFDE0FEA1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115170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7EE5C7D-F6C6-40A3-88EE-BEB6AB4D10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6205B8-2485-45C4-BD0A-AB08A988DEB6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10 | FRONT-END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7C9881-490D-481F-AEEA-466D09AF117F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Osmakapa Academy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ED5891-2B09-4535-B17F-5E6C39D82833}"/>
              </a:ext>
            </a:extLst>
          </p:cNvPr>
          <p:cNvSpPr txBox="1"/>
          <p:nvPr/>
        </p:nvSpPr>
        <p:spPr>
          <a:xfrm>
            <a:off x="711200" y="1422400"/>
            <a:ext cx="9652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>
                <a:solidFill>
                  <a:srgbClr val="B0C0D6"/>
                </a:solidFill>
                <a:latin typeface="Aptos"/>
              </a:rPr>
              <a:t>Interface academica com fotos, cards, progresso e visoes do aluno, professor e curador.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2DBBB9-E093-4162-91C0-1C4FFB17D1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1473200"/>
            <a:ext cx="3556000" cy="4064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5442CEA-6FDE-444A-B58D-1A6EB8499C71}"/>
              </a:ext>
            </a:extLst>
          </p:cNvPr>
          <p:cNvSpPr txBox="1"/>
          <p:nvPr/>
        </p:nvSpPr>
        <p:spPr>
          <a:xfrm>
            <a:off x="812800" y="2159000"/>
            <a:ext cx="5969000" cy="1246495"/>
          </a:xfrm>
          <a:prstGeom prst="rect">
            <a:avLst/>
          </a:prstGeom>
          <a:noFill/>
        </p:spPr>
        <p:txBody>
          <a:bodyPr vert="horz" lIns="50800" rtlCol="0">
            <a:spAutoFit/>
          </a:bodyPr>
          <a:lstStyle/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HTML, CSS e JavaScript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Cards de alunos e cursos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Visao do aluno, professor e curador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Consumo da API com Basic Auth</a:t>
            </a:r>
          </a:p>
          <a:p>
            <a:r>
              <a:rPr lang="pt-BR" sz="1500">
                <a:solidFill>
                  <a:srgbClr val="DCE7F5"/>
                </a:solidFill>
                <a:latin typeface="Aptos"/>
              </a:rPr>
              <a:t>â€¢ Nginx com proxy /api/** para o backend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F430C19-F21C-495A-B517-DB0EB356D385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15C91B-4789-4A46-844D-09E1CE5DC051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375990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815201-DD1D-4F44-85BB-4F573478C9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30E9EE-D7C5-44F4-ABFB-E6D6D0551009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11 | INFRAESTRUTURA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908014-BB09-4C40-8BDA-11F8B74DEB0F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Docker e ambiente integrado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DD85A6-FDEB-4400-BA28-C35E75B5BC0F}"/>
              </a:ext>
            </a:extLst>
          </p:cNvPr>
          <p:cNvSpPr/>
          <p:nvPr/>
        </p:nvSpPr>
        <p:spPr>
          <a:xfrm>
            <a:off x="787400" y="1841500"/>
            <a:ext cx="2413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F871F4-38DD-45EF-A035-3AB81B6F55D4}"/>
              </a:ext>
            </a:extLst>
          </p:cNvPr>
          <p:cNvSpPr/>
          <p:nvPr/>
        </p:nvSpPr>
        <p:spPr>
          <a:xfrm>
            <a:off x="787400" y="1841500"/>
            <a:ext cx="76200" cy="1905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51EE02-481A-4ECD-925B-B565B2D4EEC2}"/>
              </a:ext>
            </a:extLst>
          </p:cNvPr>
          <p:cNvSpPr txBox="1"/>
          <p:nvPr/>
        </p:nvSpPr>
        <p:spPr>
          <a:xfrm>
            <a:off x="1016000" y="20193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frontend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5CF0DD-7353-45F7-94B3-C3FB5D8E0BA1}"/>
              </a:ext>
            </a:extLst>
          </p:cNvPr>
          <p:cNvSpPr txBox="1"/>
          <p:nvPr/>
        </p:nvSpPr>
        <p:spPr>
          <a:xfrm>
            <a:off x="1016000" y="2451100"/>
            <a:ext cx="2057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Nginx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porta 3000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proxy /api/**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0F283C-FF0F-4407-8053-3D77E40C4099}"/>
              </a:ext>
            </a:extLst>
          </p:cNvPr>
          <p:cNvSpPr/>
          <p:nvPr/>
        </p:nvSpPr>
        <p:spPr>
          <a:xfrm>
            <a:off x="3581400" y="1841500"/>
            <a:ext cx="2413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A625A0-A1AD-4504-B7D3-6ABE128C7136}"/>
              </a:ext>
            </a:extLst>
          </p:cNvPr>
          <p:cNvSpPr/>
          <p:nvPr/>
        </p:nvSpPr>
        <p:spPr>
          <a:xfrm>
            <a:off x="3581400" y="1841500"/>
            <a:ext cx="76200" cy="1905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300651-E45B-46A5-9932-C01C96038A29}"/>
              </a:ext>
            </a:extLst>
          </p:cNvPr>
          <p:cNvSpPr txBox="1"/>
          <p:nvPr/>
        </p:nvSpPr>
        <p:spPr>
          <a:xfrm>
            <a:off x="3810000" y="20193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app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D5AD44-6449-444D-8158-2BF8CF693525}"/>
              </a:ext>
            </a:extLst>
          </p:cNvPr>
          <p:cNvSpPr txBox="1"/>
          <p:nvPr/>
        </p:nvSpPr>
        <p:spPr>
          <a:xfrm>
            <a:off x="3810000" y="2451100"/>
            <a:ext cx="2057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Spring Boot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porta 8080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Swagger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229FE90-9675-4403-A5DC-D4528BBFA2AE}"/>
              </a:ext>
            </a:extLst>
          </p:cNvPr>
          <p:cNvSpPr/>
          <p:nvPr/>
        </p:nvSpPr>
        <p:spPr>
          <a:xfrm>
            <a:off x="6375400" y="1841500"/>
            <a:ext cx="2413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490A9AF-C09A-4A4B-96D5-D350EFF3D2BC}"/>
              </a:ext>
            </a:extLst>
          </p:cNvPr>
          <p:cNvSpPr/>
          <p:nvPr/>
        </p:nvSpPr>
        <p:spPr>
          <a:xfrm>
            <a:off x="6375400" y="1841500"/>
            <a:ext cx="76200" cy="19050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5FAC9B-95BE-47B9-9321-C7C618B550F1}"/>
              </a:ext>
            </a:extLst>
          </p:cNvPr>
          <p:cNvSpPr txBox="1"/>
          <p:nvPr/>
        </p:nvSpPr>
        <p:spPr>
          <a:xfrm>
            <a:off x="6604000" y="20193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postgres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67BE453-52EE-4DA6-8196-A5D8D3ECB901}"/>
              </a:ext>
            </a:extLst>
          </p:cNvPr>
          <p:cNvSpPr txBox="1"/>
          <p:nvPr/>
        </p:nvSpPr>
        <p:spPr>
          <a:xfrm>
            <a:off x="6604000" y="2451100"/>
            <a:ext cx="2057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100">
                <a:solidFill>
                  <a:srgbClr val="B9C7DC"/>
                </a:solidFill>
                <a:latin typeface="Aptos"/>
              </a:rPr>
              <a:t>PostgreSQL 16</a:t>
            </a:r>
          </a:p>
          <a:p>
            <a:r>
              <a:rPr lang="it-IT" sz="1100">
                <a:solidFill>
                  <a:srgbClr val="B9C7DC"/>
                </a:solidFill>
                <a:latin typeface="Aptos"/>
              </a:rPr>
              <a:t>porta 5432</a:t>
            </a:r>
          </a:p>
          <a:p>
            <a:r>
              <a:rPr lang="it-IT" sz="1100">
                <a:solidFill>
                  <a:srgbClr val="B9C7DC"/>
                </a:solidFill>
                <a:latin typeface="Aptos"/>
              </a:rPr>
              <a:t>usuario_db</a:t>
            </a:r>
            <a:endParaRPr lang="pt-BR" sz="1100">
              <a:solidFill>
                <a:srgbClr val="B9C7DC"/>
              </a:solidFill>
              <a:latin typeface="Aptos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4D21DE0-AEDB-44FB-B938-ABB7DF28026A}"/>
              </a:ext>
            </a:extLst>
          </p:cNvPr>
          <p:cNvSpPr/>
          <p:nvPr/>
        </p:nvSpPr>
        <p:spPr>
          <a:xfrm>
            <a:off x="9169400" y="1841500"/>
            <a:ext cx="2159000" cy="1905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DADFAF6-5584-4DFD-ADE7-CDF4082EFCF9}"/>
              </a:ext>
            </a:extLst>
          </p:cNvPr>
          <p:cNvSpPr/>
          <p:nvPr/>
        </p:nvSpPr>
        <p:spPr>
          <a:xfrm>
            <a:off x="9169400" y="1841500"/>
            <a:ext cx="76200" cy="1905000"/>
          </a:xfrm>
          <a:prstGeom prst="rect">
            <a:avLst/>
          </a:prstGeom>
          <a:solidFill>
            <a:srgbClr val="FF60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A565AD-F76B-42AB-97F8-4D75FAFD1106}"/>
              </a:ext>
            </a:extLst>
          </p:cNvPr>
          <p:cNvSpPr txBox="1"/>
          <p:nvPr/>
        </p:nvSpPr>
        <p:spPr>
          <a:xfrm>
            <a:off x="9398000" y="2019300"/>
            <a:ext cx="180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pgAdmin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515B817-BB82-43D0-868B-4D3434B68715}"/>
              </a:ext>
            </a:extLst>
          </p:cNvPr>
          <p:cNvSpPr txBox="1"/>
          <p:nvPr/>
        </p:nvSpPr>
        <p:spPr>
          <a:xfrm>
            <a:off x="9398000" y="2451100"/>
            <a:ext cx="18034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Painel web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porta 5050</a:t>
            </a:r>
          </a:p>
          <a:p>
            <a:r>
              <a:rPr lang="pt-BR" sz="1100">
                <a:solidFill>
                  <a:srgbClr val="B9C7DC"/>
                </a:solidFill>
                <a:latin typeface="Aptos"/>
              </a:rPr>
              <a:t>admin/admin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FF8CF00-CA73-445B-A43D-D38732CDEF52}"/>
              </a:ext>
            </a:extLst>
          </p:cNvPr>
          <p:cNvSpPr txBox="1"/>
          <p:nvPr/>
        </p:nvSpPr>
        <p:spPr>
          <a:xfrm>
            <a:off x="838200" y="4445000"/>
            <a:ext cx="939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>
                <a:solidFill>
                  <a:srgbClr val="B0C0D6"/>
                </a:solidFill>
                <a:latin typeface="Aptos"/>
              </a:rPr>
              <a:t>Comando principal: docker compose up --build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A18B6FB-0430-4752-8EC1-BCA8545A7AB3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0BD353B-1C7E-4C6D-AAD3-02127B02E63F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1393271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B8637B-A0D5-49C6-9870-D5101D3E41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808E28-E25C-4C7D-B67E-5FE08D40AAE5}"/>
              </a:ext>
            </a:extLst>
          </p:cNvPr>
          <p:cNvSpPr txBox="1"/>
          <p:nvPr/>
        </p:nvSpPr>
        <p:spPr>
          <a:xfrm>
            <a:off x="711200" y="304800"/>
            <a:ext cx="660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 b="1">
                <a:solidFill>
                  <a:srgbClr val="50DCFF"/>
                </a:solidFill>
                <a:latin typeface="Aptos"/>
              </a:rPr>
              <a:t>12 | EVIDENCIAS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55E49B-6ABE-48A2-84D9-33343AC926EA}"/>
              </a:ext>
            </a:extLst>
          </p:cNvPr>
          <p:cNvSpPr txBox="1"/>
          <p:nvPr/>
        </p:nvSpPr>
        <p:spPr>
          <a:xfrm>
            <a:off x="685800" y="5588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5F9FF"/>
                </a:solidFill>
                <a:latin typeface="Aptos Display"/>
              </a:rPr>
              <a:t>O que mostrar na banca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00A0B4-240E-4554-8CE8-E9A916F388A3}"/>
              </a:ext>
            </a:extLst>
          </p:cNvPr>
          <p:cNvSpPr txBox="1"/>
          <p:nvPr/>
        </p:nvSpPr>
        <p:spPr>
          <a:xfrm>
            <a:off x="889000" y="1841500"/>
            <a:ext cx="9652000" cy="1323439"/>
          </a:xfrm>
          <a:prstGeom prst="rect">
            <a:avLst/>
          </a:prstGeom>
          <a:noFill/>
        </p:spPr>
        <p:txBody>
          <a:bodyPr vert="horz" lIns="50800" rtlCol="0">
            <a:spAutoFit/>
          </a:bodyPr>
          <a:lstStyle/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Swagger em http://localhost:8080/swagger-ui.html com endpoints abertos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Front-end em http://localhost:3000 mostrando Osmakapa Academy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Docker Desktop com containers: frontend, app, postgres e pgadmin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PgAdmin em http://localhost:5050 conectado no banco usuario_db</a:t>
            </a:r>
          </a:p>
          <a:p>
            <a:r>
              <a:rPr lang="pt-BR" sz="1600">
                <a:solidFill>
                  <a:srgbClr val="DCE7F5"/>
                </a:solidFill>
                <a:latin typeface="Aptos"/>
              </a:rPr>
              <a:t>â€¢ Fluxo completo: aluno -&gt; curso -&gt; matricula -&gt; nota -&gt; forum -&gt; beneficio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17AC757-FA24-4278-85D5-59FD15E6AB28}"/>
              </a:ext>
            </a:extLst>
          </p:cNvPr>
          <p:cNvCxnSpPr/>
          <p:nvPr/>
        </p:nvCxnSpPr>
        <p:spPr>
          <a:xfrm>
            <a:off x="711200" y="6413500"/>
            <a:ext cx="10769600" cy="0"/>
          </a:xfrm>
          <a:prstGeom prst="line">
            <a:avLst/>
          </a:prstGeom>
          <a:ln w="6350" cap="flat" cmpd="sng" algn="ctr">
            <a:solidFill>
              <a:srgbClr val="37548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F544A5-402C-42DB-9EFA-29A6A4F1D5D8}"/>
              </a:ext>
            </a:extLst>
          </p:cNvPr>
          <p:cNvSpPr txBox="1"/>
          <p:nvPr/>
        </p:nvSpPr>
        <p:spPr>
          <a:xfrm>
            <a:off x="711200" y="65024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8094B0"/>
                </a:solidFill>
                <a:latin typeface="Aptos"/>
              </a:rPr>
              <a:t>Osmakapa Academy | API Spring Boot</a:t>
            </a:r>
          </a:p>
        </p:txBody>
      </p:sp>
    </p:spTree>
    <p:extLst>
      <p:ext uri="{BB962C8B-B14F-4D97-AF65-F5344CB8AC3E}">
        <p14:creationId xmlns:p14="http://schemas.microsoft.com/office/powerpoint/2010/main" val="24882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DC070E9-FCCA-4A64-A126-841981DFC5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AEA2528-0E63-43C4-A9C5-77A564297BF4}"/>
              </a:ext>
            </a:extLst>
          </p:cNvPr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3F58337-06F3-4D58-B308-20F19A598B06}"/>
              </a:ext>
            </a:extLst>
          </p:cNvPr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C0E083D-BF5D-49A8-9A00-5066B0B30694}"/>
              </a:ext>
            </a:extLst>
          </p:cNvPr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29746AB-AAF5-43B2-A075-7D2B94ED1C1E}"/>
              </a:ext>
            </a:extLst>
          </p:cNvPr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3A5164C-07AC-43EF-B3DA-4A585FAB77B0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29F341C-036E-478A-8EDD-25BF88DB58F4}"/>
              </a:ext>
            </a:extLst>
          </p:cNvPr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F453296-48C0-4A30-ADF2-6C729901C875}"/>
              </a:ext>
            </a:extLst>
          </p:cNvPr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94A30C8-09D2-4F81-9486-57437D8F3D40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C783DC3-E8E0-4911-A1C5-645B7A148B95}"/>
              </a:ext>
            </a:extLst>
          </p:cNvPr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44DB841-910A-45C9-9D7B-11F725B02339}"/>
              </a:ext>
            </a:extLst>
          </p:cNvPr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564FC81-BDD9-4AB3-86CE-36883703EA7A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1DA93FE-878F-4207-AE9B-66EF35E1DBBF}"/>
              </a:ext>
            </a:extLst>
          </p:cNvPr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A3D2EF1-1D90-4949-B9CE-B58B56DA167E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4DABD1E-C275-4C97-A7C3-7F1261A03EBC}"/>
              </a:ext>
            </a:extLst>
          </p:cNvPr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F35835D-49A2-47EF-8455-9BDB31994DA9}"/>
              </a:ext>
            </a:extLst>
          </p:cNvPr>
          <p:cNvCxnSpPr/>
          <p:nvPr/>
        </p:nvCxnSpPr>
        <p:spPr>
          <a:xfrm>
            <a:off x="0" y="2794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33B048A-3B4D-4FFA-B69D-06CF9168F3B8}"/>
              </a:ext>
            </a:extLst>
          </p:cNvPr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DCDAA326-EE1C-484A-B522-63975A9EADE0}"/>
              </a:ext>
            </a:extLst>
          </p:cNvPr>
          <p:cNvCxnSpPr/>
          <p:nvPr/>
        </p:nvCxnSpPr>
        <p:spPr>
          <a:xfrm>
            <a:off x="0" y="4826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B05720E-96CE-42C6-B707-A662E46E6D97}"/>
              </a:ext>
            </a:extLst>
          </p:cNvPr>
          <p:cNvCxnSpPr/>
          <p:nvPr/>
        </p:nvCxnSpPr>
        <p:spPr>
          <a:xfrm>
            <a:off x="0" y="5842000"/>
            <a:ext cx="12192000" cy="0"/>
          </a:xfrm>
          <a:prstGeom prst="line">
            <a:avLst/>
          </a:prstGeom>
          <a:ln w="6350" cap="flat" cmpd="sng" algn="ctr">
            <a:solidFill>
              <a:srgbClr val="162A48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5D6FA61-D2F3-446D-BB65-E3CF0095E22F}"/>
              </a:ext>
            </a:extLst>
          </p:cNvPr>
          <p:cNvSpPr txBox="1"/>
          <p:nvPr/>
        </p:nvSpPr>
        <p:spPr>
          <a:xfrm>
            <a:off x="736600" y="1168400"/>
            <a:ext cx="9779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200" b="1">
                <a:solidFill>
                  <a:srgbClr val="F5F9FF"/>
                </a:solidFill>
                <a:latin typeface="Aptos Display"/>
              </a:rPr>
              <a:t>Conclusao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9EBE0F4-D515-4FA8-A3F0-1695205316C3}"/>
              </a:ext>
            </a:extLst>
          </p:cNvPr>
          <p:cNvSpPr txBox="1"/>
          <p:nvPr/>
        </p:nvSpPr>
        <p:spPr>
          <a:xfrm>
            <a:off x="762000" y="2159000"/>
            <a:ext cx="914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>
                <a:solidFill>
                  <a:srgbClr val="B0C0D6"/>
                </a:solidFill>
                <a:latin typeface="Aptos"/>
              </a:rPr>
              <a:t>O projeto entrega uma API orientada a objetos, organizada em camadas, com persistencia, documentacao, Docker e front-end integrado.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5BCFB8C-5DDB-4E0F-9780-8DCDEF103959}"/>
              </a:ext>
            </a:extLst>
          </p:cNvPr>
          <p:cNvSpPr/>
          <p:nvPr/>
        </p:nvSpPr>
        <p:spPr>
          <a:xfrm>
            <a:off x="952500" y="3556000"/>
            <a:ext cx="3048000" cy="1270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CCDB1A4-915A-48C2-BC12-D7A70DCE514C}"/>
              </a:ext>
            </a:extLst>
          </p:cNvPr>
          <p:cNvSpPr/>
          <p:nvPr/>
        </p:nvSpPr>
        <p:spPr>
          <a:xfrm>
            <a:off x="952500" y="3556000"/>
            <a:ext cx="76200" cy="1270000"/>
          </a:xfrm>
          <a:prstGeom prst="rect">
            <a:avLst/>
          </a:prstGeom>
          <a:solidFill>
            <a:srgbClr val="4DD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9374ED0-10D7-4C4C-9798-01F55D99A245}"/>
              </a:ext>
            </a:extLst>
          </p:cNvPr>
          <p:cNvSpPr txBox="1"/>
          <p:nvPr/>
        </p:nvSpPr>
        <p:spPr>
          <a:xfrm>
            <a:off x="1181100" y="37338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API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3239F95-9327-4978-AE54-E8C69E1CF0DB}"/>
              </a:ext>
            </a:extLst>
          </p:cNvPr>
          <p:cNvSpPr txBox="1"/>
          <p:nvPr/>
        </p:nvSpPr>
        <p:spPr>
          <a:xfrm>
            <a:off x="1181100" y="41656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B9C7DC"/>
                </a:solidFill>
                <a:latin typeface="Aptos"/>
              </a:rPr>
              <a:t>Spring Boot + Maven + JPA + Security</a:t>
            </a:r>
            <a:endParaRPr lang="pt-BR" sz="1100">
              <a:solidFill>
                <a:srgbClr val="B9C7DC"/>
              </a:solidFill>
              <a:latin typeface="Aptos"/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68DEAF7-FF64-400C-87B0-6928B436DF33}"/>
              </a:ext>
            </a:extLst>
          </p:cNvPr>
          <p:cNvSpPr/>
          <p:nvPr/>
        </p:nvSpPr>
        <p:spPr>
          <a:xfrm>
            <a:off x="4572000" y="3556000"/>
            <a:ext cx="3048000" cy="1270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59D10BA-EFC9-409A-AB2A-085BFE8380D0}"/>
              </a:ext>
            </a:extLst>
          </p:cNvPr>
          <p:cNvSpPr/>
          <p:nvPr/>
        </p:nvSpPr>
        <p:spPr>
          <a:xfrm>
            <a:off x="4572000" y="3556000"/>
            <a:ext cx="76200" cy="1270000"/>
          </a:xfrm>
          <a:prstGeom prst="rect">
            <a:avLst/>
          </a:prstGeom>
          <a:solidFill>
            <a:srgbClr val="55E6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C2E590B-A61D-4A45-8EF4-ABB757816C11}"/>
              </a:ext>
            </a:extLst>
          </p:cNvPr>
          <p:cNvSpPr txBox="1"/>
          <p:nvPr/>
        </p:nvSpPr>
        <p:spPr>
          <a:xfrm>
            <a:off x="4800600" y="37338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Dados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62871A7-5521-43FC-BA93-68FA4CE077F5}"/>
              </a:ext>
            </a:extLst>
          </p:cNvPr>
          <p:cNvSpPr txBox="1"/>
          <p:nvPr/>
        </p:nvSpPr>
        <p:spPr>
          <a:xfrm>
            <a:off x="4800600" y="41656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PostgreSQL + H2 + PgAdmin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6F9158B-F67A-4CA8-B6FC-813F574946E1}"/>
              </a:ext>
            </a:extLst>
          </p:cNvPr>
          <p:cNvSpPr/>
          <p:nvPr/>
        </p:nvSpPr>
        <p:spPr>
          <a:xfrm>
            <a:off x="8191500" y="3556000"/>
            <a:ext cx="3048000" cy="1270000"/>
          </a:xfrm>
          <a:prstGeom prst="roundRect">
            <a:avLst/>
          </a:prstGeom>
          <a:solidFill>
            <a:srgbClr val="12213A">
              <a:alpha val="95000"/>
            </a:srgbClr>
          </a:solidFill>
          <a:ln w="12700">
            <a:solidFill>
              <a:srgbClr val="37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45C3D87-1EFE-473F-BAB8-884295883477}"/>
              </a:ext>
            </a:extLst>
          </p:cNvPr>
          <p:cNvSpPr/>
          <p:nvPr/>
        </p:nvSpPr>
        <p:spPr>
          <a:xfrm>
            <a:off x="8191500" y="3556000"/>
            <a:ext cx="76200" cy="1270000"/>
          </a:xfrm>
          <a:prstGeom prst="rect">
            <a:avLst/>
          </a:prstGeom>
          <a:solidFill>
            <a:srgbClr val="E8C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13AD0C-5635-40AD-8326-4E3CCD14AB1B}"/>
              </a:ext>
            </a:extLst>
          </p:cNvPr>
          <p:cNvSpPr txBox="1"/>
          <p:nvPr/>
        </p:nvSpPr>
        <p:spPr>
          <a:xfrm>
            <a:off x="8420100" y="37338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 b="1">
                <a:solidFill>
                  <a:srgbClr val="F5F9FF"/>
                </a:solidFill>
                <a:latin typeface="Aptos Display"/>
              </a:rPr>
              <a:t>Experiencia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CF50D6B-CDEC-4BD4-94F4-F162B909A39B}"/>
              </a:ext>
            </a:extLst>
          </p:cNvPr>
          <p:cNvSpPr txBox="1"/>
          <p:nvPr/>
        </p:nvSpPr>
        <p:spPr>
          <a:xfrm>
            <a:off x="8420100" y="41656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>
                <a:solidFill>
                  <a:srgbClr val="B9C7DC"/>
                </a:solidFill>
                <a:latin typeface="Aptos"/>
              </a:rPr>
              <a:t>Osmakapa Academy + Docker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FCEDDCC-CA05-4A8D-AB2D-12C9B5F0538D}"/>
              </a:ext>
            </a:extLst>
          </p:cNvPr>
          <p:cNvSpPr txBox="1"/>
          <p:nvPr/>
        </p:nvSpPr>
        <p:spPr>
          <a:xfrm>
            <a:off x="762000" y="5778500"/>
            <a:ext cx="381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200">
                <a:solidFill>
                  <a:srgbClr val="B0C0D6"/>
                </a:solidFill>
                <a:latin typeface="Aptos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708585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Microsoft Office PowerPoint</Application>
  <PresentationFormat>Personalizar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LUIZA PROENCA GALVAO</dc:creator>
  <cp:lastModifiedBy>ANA LUIZA PROENCA GALVAO</cp:lastModifiedBy>
  <cp:revision>1</cp:revision>
  <dcterms:created xsi:type="dcterms:W3CDTF">2026-05-26T22:38:50Z</dcterms:created>
  <dcterms:modified xsi:type="dcterms:W3CDTF">2026-05-26T22:38:51Z</dcterms:modified>
</cp:coreProperties>
</file>